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200" b="0" i="0">
                <a:solidFill>
                  <a:srgbClr val="BDC3C7"/>
                </a:solidFill>
              </a:defRPr>
            </a:pPr>
            <a:r>
              <a:t>Final Year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3600" b="1" i="0">
                <a:solidFill>
                  <a:srgbClr val="FFFFFF"/>
                </a:solidFill>
              </a:defRPr>
            </a:pPr>
            <a:r>
              <a:t>A Simulation-Based Framework for</a:t>
            </a:r>
          </a:p>
          <a:p>
            <a:pPr algn="ctr">
              <a:spcAft>
                <a:spcPts val="800"/>
              </a:spcAft>
              <a:defRPr sz="3600" b="1" i="0">
                <a:solidFill>
                  <a:srgbClr val="FFFFFF"/>
                </a:solidFill>
              </a:defRPr>
            </a:pPr>
            <a:r>
              <a:t>Mitigating a 51% Attack on Blockchain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663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000" b="0" i="0">
                <a:solidFill>
                  <a:srgbClr val="ECF0F1"/>
                </a:solidFill>
              </a:defRPr>
            </a:pPr>
            <a:r>
              <a:t>Presented by Ahmad Ali  •  BC220425973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1663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0" i="0">
                <a:solidFill>
                  <a:srgbClr val="BDC3C7"/>
                </a:solidFill>
              </a:defRPr>
            </a:pPr>
            <a:r>
              <a:t>Group ID: F25PROJECT5043F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500" b="0" i="0">
                <a:solidFill>
                  <a:srgbClr val="BDC3C7"/>
                </a:solidFill>
              </a:defRPr>
            </a:pPr>
            <a:r>
              <a:t>Supervisor: Dr. Fouzia Jumani  •  Virtual University of Pakistan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0" i="0">
                <a:solidFill>
                  <a:srgbClr val="555555"/>
                </a:solidFill>
              </a:defRPr>
            </a:pPr>
            <a:r>
              <a:t>•  Background: what is a 51% attack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555555"/>
                </a:solidFill>
              </a:defRPr>
            </a:pPr>
            <a:r>
              <a:t>•  Problem statement and project goal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555555"/>
                </a:solidFill>
              </a:defRPr>
            </a:pPr>
            <a:r>
              <a:t>•  Proposed defense: Safe Mode Detection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555555"/>
                </a:solidFill>
              </a:defRPr>
            </a:pPr>
            <a:r>
              <a:t>•  System architecture and design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555555"/>
                </a:solidFill>
              </a:defRPr>
            </a:pPr>
            <a:r>
              <a:t>•  Implementation walkthrough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555555"/>
                </a:solidFill>
              </a:defRPr>
            </a:pPr>
            <a:r>
              <a:t>•  GUI walkthrough (intro, configuration, live simulation, results, event logs)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555555"/>
                </a:solidFill>
              </a:defRPr>
            </a:pPr>
            <a:r>
              <a:t>•  Live demonstration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555555"/>
                </a:solidFill>
              </a:defRPr>
            </a:pPr>
            <a:r>
              <a:t>•  Results and analysis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555555"/>
                </a:solidFill>
              </a:defRPr>
            </a:pPr>
            <a:r>
              <a:t>•  Limitations and future work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555555"/>
                </a:solidFill>
              </a:defRPr>
            </a:pPr>
            <a:r>
              <a:t>• 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0" i="0">
                <a:solidFill>
                  <a:srgbClr val="555555"/>
                </a:solidFill>
              </a:defRPr>
            </a:pPr>
            <a:r>
              <a:t>•  Proof-of-Work blockchains agree on history using the longest chain rule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555555"/>
                </a:solidFill>
              </a:defRPr>
            </a:pPr>
            <a:r>
              <a:t>•  Honest miners normally control the majority of the network's hashrate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555555"/>
                </a:solidFill>
              </a:defRPr>
            </a:pPr>
            <a:r>
              <a:t>•  If one miner gains more than 50% of the hashrate, the rule starts to break down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555555"/>
                </a:solidFill>
              </a:defRPr>
            </a:pPr>
            <a:r>
              <a:t>•  That miner can secretly build a private chain and publish it later to replace the public one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555555"/>
                </a:solidFill>
              </a:defRPr>
            </a:pPr>
            <a:r>
              <a:t>•  This is what is called a 51% attack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555555"/>
                </a:solidFill>
              </a:defRPr>
            </a:pPr>
            <a:r>
              <a:t>•  Several smaller PoW coins (Ethereum Classic, Bitcoin Gold, Verge) have already been hit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How the Attack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1" i="0">
                <a:solidFill>
                  <a:srgbClr val="1F3A5F"/>
                </a:solidFill>
              </a:defRPr>
            </a:pPr>
            <a:r>
              <a:t>1. Attacker quietly forks the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1" i="0">
                <a:solidFill>
                  <a:srgbClr val="1F3A5F"/>
                </a:solidFill>
              </a:defRPr>
            </a:pPr>
            <a:r>
              <a:t>2. Mines blocks on the private chain in secret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1" i="0">
                <a:solidFill>
                  <a:srgbClr val="1F3A5F"/>
                </a:solidFill>
              </a:defRPr>
            </a:pPr>
            <a:r>
              <a:t>3. Inserts a double-spend transaction on the private fork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1" i="0">
                <a:solidFill>
                  <a:srgbClr val="1F3A5F"/>
                </a:solidFill>
              </a:defRPr>
            </a:pPr>
            <a:r>
              <a:t>4. Waits until the private chain is longer than the public 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66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1" i="0">
                <a:solidFill>
                  <a:srgbClr val="1F3A5F"/>
                </a:solidFill>
              </a:defRPr>
            </a:pPr>
            <a:r>
              <a:t>5. Publishes the private chain — the network adopts it because it is longer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06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1" i="0">
                <a:solidFill>
                  <a:srgbClr val="1F3A5F"/>
                </a:solidFill>
              </a:defRPr>
            </a:pPr>
            <a:r>
              <a:t>6. Original transactions are erased, attacker spends the same coins twice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20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 b="0" i="1">
                <a:solidFill>
                  <a:srgbClr val="C0392B"/>
                </a:solidFill>
              </a:defRPr>
            </a:pPr>
            <a:r>
              <a:t>Once the attacker controls enough hashrate, this is not a matter of luck. Given enough time the longer chain will eventually be theirs.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0" i="0">
                <a:solidFill>
                  <a:srgbClr val="555555"/>
                </a:solidFill>
              </a:defRPr>
            </a:pPr>
            <a:r>
              <a:t>•  Smaller PoW networks have low total hashrate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555555"/>
                </a:solidFill>
              </a:defRPr>
            </a:pPr>
            <a:r>
              <a:t>•  An attacker with modest mining hardware can rent enough cloud compute power to cross 50%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555555"/>
                </a:solidFill>
              </a:defRPr>
            </a:pPr>
            <a:r>
              <a:t>•  Once they cross it, double-spending becomes possible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555555"/>
                </a:solidFill>
              </a:defRPr>
            </a:pPr>
            <a:r>
              <a:t>•  Standard longest-chain rule cannot tell an honest reorganization from a fraudulent one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555555"/>
                </a:solidFill>
              </a:defRPr>
            </a:pPr>
            <a:r>
              <a:t>•  We need a defense that does not rely on hashrate alone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Project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0" i="0">
                <a:solidFill>
                  <a:srgbClr val="555555"/>
                </a:solidFill>
              </a:defRPr>
            </a:pPr>
            <a:r>
              <a:t>•  Build a Python simulation of a small PoW blockchain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555555"/>
                </a:solidFill>
              </a:defRPr>
            </a:pPr>
            <a:r>
              <a:t>•  Make a malicious miner capable of carrying out the 51% attack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555555"/>
                </a:solidFill>
              </a:defRPr>
            </a:pPr>
            <a:r>
              <a:t>•  Implement Safe Mode Detection and measure how it changes the result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555555"/>
                </a:solidFill>
              </a:defRPr>
            </a:pPr>
            <a:r>
              <a:t>•  Provide a GUI that lets anyone run experiments interactively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555555"/>
                </a:solidFill>
              </a:defRPr>
            </a:pPr>
            <a:r>
              <a:t>•  Compute hashrate from the number of mining nodes a miner owns (realistic, not a fixed number)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Proposed Defense: Safe Mode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0" i="0">
                <a:solidFill>
                  <a:srgbClr val="1F3A5F"/>
                </a:solidFill>
              </a:defRPr>
            </a:pPr>
            <a:r>
              <a:t>Safe Mode Detection has two parts that work together: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5486400" cy="2194560"/>
          </a:xfrm>
          <a:prstGeom prst="roundRect">
            <a:avLst/>
          </a:prstGeom>
          <a:solidFill>
            <a:srgbClr val="F4F6F8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 wrap="square"/>
          <a:lstStyle/>
          <a:p>
            <a:pPr algn="ctr">
              <a:defRPr sz="2200" b="1">
                <a:solidFill>
                  <a:srgbClr val="1F3A5F"/>
                </a:solidFill>
              </a:defRPr>
            </a:pPr>
            <a:r>
              <a:t>1. Long Private Chain (LPC)</a:t>
            </a:r>
          </a:p>
          <a:p>
            <a:pPr>
              <a:defRPr sz="1600">
                <a:solidFill>
                  <a:srgbClr val="555555"/>
                </a:solidFill>
              </a:defRPr>
            </a:pPr>
            <a:r>
              <a:t>Reject any block that would create six or more consecutive blocks by the same miner. This prevents any single party from dominating block production.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737360"/>
            <a:ext cx="5486400" cy="2194560"/>
          </a:xfrm>
          <a:prstGeom prst="roundRect">
            <a:avLst/>
          </a:prstGeom>
          <a:solidFill>
            <a:srgbClr val="F4F6F8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 wrap="square"/>
          <a:lstStyle/>
          <a:p>
            <a:pPr algn="ctr">
              <a:defRPr sz="2200" b="1">
                <a:solidFill>
                  <a:srgbClr val="1F3A5F"/>
                </a:solidFill>
              </a:defRPr>
            </a:pPr>
            <a:r>
              <a:t>2. UTXO Comparison</a:t>
            </a:r>
          </a:p>
          <a:p>
            <a:pPr>
              <a:defRPr sz="1600">
                <a:solidFill>
                  <a:srgbClr val="555555"/>
                </a:solidFill>
              </a:defRPr>
            </a:pPr>
            <a:r>
              <a:t>When a competing chain is published, compare the UTXO snapshots of both chains. Any difference is evidence of a double-spend, the chain is rejected.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 b="0" i="1">
                <a:solidFill>
                  <a:srgbClr val="27AE60"/>
                </a:solidFill>
              </a:defRPr>
            </a:pPr>
            <a:r>
              <a:t>Together: even a &gt; 50% attacker cannot replace the honest chain without either tripping the LPC streak limit or producing UTXO differences that the comparison step catches.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Dynamic Hashrate from Node Count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0" i="0">
                <a:solidFill>
                  <a:srgbClr val="1F3A5F"/>
                </a:solidFill>
              </a:defRPr>
            </a:pPr>
            <a:r>
              <a:t>Hashrate is not a fixed number — it is derived from the nodes a miner controls: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0" i="0">
                <a:solidFill>
                  <a:srgbClr val="555555"/>
                </a:solidFill>
              </a:defRPr>
            </a:pPr>
            <a:r>
              <a:t>MaliciousMiner('Attacker', num_nodes=17)    # attacker owns 17 mining nodes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0" i="0">
                <a:solidFill>
                  <a:srgbClr val="555555"/>
                </a:solidFill>
              </a:defRPr>
            </a:pPr>
            <a:r>
              <a:t>HonestMiner('Honest_1', num_nodes=5)        # each honest miner owns 5 nodes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 b="0" i="0">
                <a:solidFill>
                  <a:srgbClr val="1F3A5F"/>
                </a:solidFill>
              </a:defRPr>
            </a:pPr>
            <a:r>
              <a:t>Network computes at runtime:</a:t>
            </a:r>
          </a:p>
          <a:p>
            <a:pPr algn="l">
              <a:spcAft>
                <a:spcPts val="800"/>
              </a:spcAft>
              <a:defRPr sz="1800" b="0" i="0">
                <a:solidFill>
                  <a:srgbClr val="1F3A5F"/>
                </a:solidFill>
              </a:defRPr>
            </a:pPr>
            <a:r>
              <a:t>    hashrate = miner.num_nodes / total_network_nodes</a:t>
            </a:r>
          </a:p>
          <a:p>
            <a:pPr algn="l">
              <a:spcAft>
                <a:spcPts val="800"/>
              </a:spcAft>
              <a:defRPr sz="1800" b="0" i="0">
                <a:solidFill>
                  <a:srgbClr val="1F3A5F"/>
                </a:solidFill>
              </a:defRPr>
            </a:pPr>
          </a:p>
          <a:p>
            <a:pPr algn="l">
              <a:spcAft>
                <a:spcPts val="800"/>
              </a:spcAft>
              <a:defRPr sz="1800" b="0" i="0">
                <a:solidFill>
                  <a:srgbClr val="1F3A5F"/>
                </a:solidFill>
              </a:defRPr>
            </a:pPr>
            <a:r>
              <a:t>Example: 5 honest miners × 5 nodes = 25 honest nodes</a:t>
            </a:r>
          </a:p>
          <a:p>
            <a:pPr algn="l">
              <a:spcAft>
                <a:spcPts val="800"/>
              </a:spcAft>
              <a:defRPr sz="1800" b="0" i="0">
                <a:solidFill>
                  <a:srgbClr val="1F3A5F"/>
                </a:solidFill>
              </a:defRPr>
            </a:pPr>
            <a:r>
              <a:t>Attacker: 17 nodes  →  17 / 42 = 40.5% hashrate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463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 b="0" i="1">
                <a:solidFill>
                  <a:srgbClr val="27AE60"/>
                </a:solidFill>
              </a:defRPr>
            </a:pPr>
            <a:r>
              <a:t>This makes the simulation realistic: adding more mining hardware increases your share of the network proportionally, just like a real Proof-of-Work network.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System Architecture (Three-Tier)</a:t>
            </a:r>
          </a:p>
        </p:txBody>
      </p:sp>
      <p:pic>
        <p:nvPicPr>
          <p:cNvPr id="3" name="Picture 2" descr="diagra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097280"/>
            <a:ext cx="850392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Main Classes</a:t>
            </a:r>
          </a:p>
        </p:txBody>
      </p:sp>
      <p:pic>
        <p:nvPicPr>
          <p:cNvPr id="3" name="Picture 2" descr="diagram_cl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05840"/>
            <a:ext cx="10881360" cy="65288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Sequence: Baseline Attack</a:t>
            </a:r>
          </a:p>
        </p:txBody>
      </p:sp>
      <p:pic>
        <p:nvPicPr>
          <p:cNvPr id="3" name="Picture 2" descr="sequence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332720" cy="5740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Sequence: Protected Run</a:t>
            </a:r>
          </a:p>
        </p:txBody>
      </p:sp>
      <p:pic>
        <p:nvPicPr>
          <p:cNvPr id="3" name="Picture 2" descr="sequence_prot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332720" cy="5740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Tools and Libraries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0" i="0">
                <a:solidFill>
                  <a:srgbClr val="555555"/>
                </a:solidFill>
              </a:defRPr>
            </a:pPr>
            <a:r>
              <a:t>•  Python 3.10 — programming language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555555"/>
                </a:solidFill>
              </a:defRPr>
            </a:pPr>
            <a:r>
              <a:t>•  Streamlit — interactive web GUI built in pure Python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555555"/>
                </a:solidFill>
              </a:defRPr>
            </a:pPr>
            <a:r>
              <a:t>•  Matplotlib + Plotly — charts (static for report, interactive for GUI)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555555"/>
                </a:solidFill>
              </a:defRPr>
            </a:pPr>
            <a:r>
              <a:t>•  Pandas — tabulating results and CSV export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555555"/>
                </a:solidFill>
              </a:defRPr>
            </a:pPr>
            <a:r>
              <a:t>•  hashlib (stdlib) — SHA-256 for block hashing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555555"/>
                </a:solidFill>
              </a:defRPr>
            </a:pPr>
            <a:r>
              <a:t>•  Visual Studio Code — development environment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GUI: Intro Animation</a:t>
            </a:r>
          </a:p>
        </p:txBody>
      </p:sp>
      <p:pic>
        <p:nvPicPr>
          <p:cNvPr id="3" name="Picture 2" descr="gui_i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74552" cy="524069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300" b="0" i="1">
                <a:solidFill>
                  <a:srgbClr val="555555"/>
                </a:solidFill>
              </a:defRPr>
            </a:pPr>
            <a:r>
              <a:t>Full-screen intro with animated network graph and project title — press SKIP to enter the app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GUI: Configuration Panel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0" i="0">
                <a:solidFill>
                  <a:srgbClr val="555555"/>
                </a:solidFill>
              </a:defRPr>
            </a:pPr>
            <a:r>
              <a:t>•  Stepper controls (not sliders) for miners/nodes</a:t>
            </a:r>
          </a:p>
          <a:p>
            <a:pPr algn="l">
              <a:spcAft>
                <a:spcPts val="800"/>
              </a:spcAft>
              <a:defRPr sz="1600" b="0" i="0">
                <a:solidFill>
                  <a:srgbClr val="555555"/>
                </a:solidFill>
              </a:defRPr>
            </a:pPr>
            <a:r>
              <a:t>•  Visual node-dot grid per miner</a:t>
            </a:r>
          </a:p>
          <a:p>
            <a:pPr algn="l">
              <a:spcAft>
                <a:spcPts val="800"/>
              </a:spcAft>
              <a:defRPr sz="1600" b="0" i="0">
                <a:solidFill>
                  <a:srgbClr val="555555"/>
                </a:solidFill>
              </a:defRPr>
            </a:pPr>
            <a:r>
              <a:t>•  Live % ring gauge for attacker hashrate</a:t>
            </a:r>
          </a:p>
          <a:p>
            <a:pPr algn="l">
              <a:spcAft>
                <a:spcPts val="800"/>
              </a:spcAft>
              <a:defRPr sz="1600" b="0" i="0">
                <a:solidFill>
                  <a:srgbClr val="555555"/>
                </a:solidFill>
              </a:defRPr>
            </a:pPr>
            <a:r>
              <a:t>•  WARNING badge when attacker nears 50%</a:t>
            </a:r>
          </a:p>
          <a:p>
            <a:pPr algn="l">
              <a:spcAft>
                <a:spcPts val="800"/>
              </a:spcAft>
              <a:defRPr sz="1600" b="0" i="0">
                <a:solidFill>
                  <a:srgbClr val="555555"/>
                </a:solidFill>
              </a:defRPr>
            </a:pPr>
            <a:r>
              <a:t>•  Network ring topology diagram</a:t>
            </a:r>
          </a:p>
          <a:p>
            <a:pPr algn="l">
              <a:spcAft>
                <a:spcPts val="800"/>
              </a:spcAft>
              <a:defRPr sz="1600" b="0" i="0">
                <a:solidFill>
                  <a:srgbClr val="555555"/>
                </a:solidFill>
              </a:defRPr>
            </a:pPr>
            <a:r>
              <a:t>•  Run mode: Compare Both / Baseline Only / Protected Only</a:t>
            </a:r>
          </a:p>
        </p:txBody>
      </p:sp>
      <p:pic>
        <p:nvPicPr>
          <p:cNvPr id="4" name="Picture 3" descr="gui_con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868680"/>
            <a:ext cx="7132320" cy="33729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300" b="0" i="1">
                <a:solidFill>
                  <a:srgbClr val="555555"/>
                </a:solidFill>
              </a:defRPr>
            </a:pPr>
            <a:r>
              <a:t>3-column bento grid: honest miners (with node-dot grid), attacker (live hashrate ring), parameters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GUI: Live Simulation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0" i="0">
                <a:solidFill>
                  <a:srgbClr val="555555"/>
                </a:solidFill>
              </a:defRPr>
            </a:pPr>
            <a:r>
              <a:t>•  Inline rendering — no tab switching</a:t>
            </a:r>
          </a:p>
          <a:p>
            <a:pPr algn="l">
              <a:spcAft>
                <a:spcPts val="800"/>
              </a:spcAft>
              <a:defRPr sz="1600" b="0" i="0">
                <a:solidFill>
                  <a:srgbClr val="555555"/>
                </a:solidFill>
              </a:defRPr>
            </a:pPr>
            <a:r>
              <a:t>•  Chain growth: honest (cyan) vs attacker (red dashed)</a:t>
            </a:r>
          </a:p>
          <a:p>
            <a:pPr algn="l">
              <a:spcAft>
                <a:spcPts val="800"/>
              </a:spcAft>
              <a:defRPr sz="1600" b="0" i="0">
                <a:solidFill>
                  <a:srgbClr val="555555"/>
                </a:solidFill>
              </a:defRPr>
            </a:pPr>
            <a:r>
              <a:t>•  Green = mined / Red = attack / Blue = defense</a:t>
            </a:r>
          </a:p>
          <a:p>
            <a:pPr algn="l">
              <a:spcAft>
                <a:spcPts val="800"/>
              </a:spcAft>
              <a:defRPr sz="1600" b="0" i="0">
                <a:solidFill>
                  <a:srgbClr val="555555"/>
                </a:solidFill>
              </a:defRPr>
            </a:pPr>
            <a:r>
              <a:t>•  Baseline runs first, Protected runs after</a:t>
            </a:r>
          </a:p>
          <a:p>
            <a:pPr algn="l">
              <a:spcAft>
                <a:spcPts val="800"/>
              </a:spcAft>
              <a:defRPr sz="1600" b="0" i="0">
                <a:solidFill>
                  <a:srgbClr val="555555"/>
                </a:solidFill>
              </a:defRPr>
            </a:pPr>
            <a:r>
              <a:t>•  Progress bar per section</a:t>
            </a:r>
          </a:p>
        </p:txBody>
      </p:sp>
      <p:pic>
        <p:nvPicPr>
          <p:cNvPr id="4" name="Picture 3" descr="gui_sim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868680"/>
            <a:ext cx="7132320" cy="33366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300" b="0" i="1">
                <a:solidFill>
                  <a:srgbClr val="555555"/>
                </a:solidFill>
              </a:defRPr>
            </a:pPr>
            <a:r>
              <a:t>Baseline (top) and Protected (bottom) sections run inline — chain growth chart + color-coded event log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GUI: Results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0" i="0">
                <a:solidFill>
                  <a:srgbClr val="555555"/>
                </a:solidFill>
              </a:defRPr>
            </a:pPr>
            <a:r>
              <a:t>•  SUCCEEDED (red) vs BLOCKED (green) status cards</a:t>
            </a:r>
          </a:p>
          <a:p>
            <a:pPr algn="l">
              <a:spcAft>
                <a:spcPts val="800"/>
              </a:spcAft>
              <a:defRPr sz="1600" b="0" i="0">
                <a:solidFill>
                  <a:srgbClr val="555555"/>
                </a:solidFill>
              </a:defRPr>
            </a:pPr>
            <a:r>
              <a:t>•  Comparison table for both scenarios</a:t>
            </a:r>
          </a:p>
          <a:p>
            <a:pPr algn="l">
              <a:spcAft>
                <a:spcPts val="800"/>
              </a:spcAft>
              <a:defRPr sz="1600" b="0" i="0">
                <a:solidFill>
                  <a:srgbClr val="555555"/>
                </a:solidFill>
              </a:defRPr>
            </a:pPr>
            <a:r>
              <a:t>•  4-line chain growth chart</a:t>
            </a:r>
          </a:p>
          <a:p>
            <a:pPr algn="l">
              <a:spcAft>
                <a:spcPts val="800"/>
              </a:spcAft>
              <a:defRPr sz="1600" b="0" i="0">
                <a:solidFill>
                  <a:srgbClr val="555555"/>
                </a:solidFill>
              </a:defRPr>
            </a:pPr>
            <a:r>
              <a:t>•  Horizontal bar: blocks mined per miner</a:t>
            </a:r>
          </a:p>
          <a:p>
            <a:pPr algn="l">
              <a:spcAft>
                <a:spcPts val="800"/>
              </a:spcAft>
              <a:defRPr sz="1600" b="0" i="0">
                <a:solidFill>
                  <a:srgbClr val="555555"/>
                </a:solidFill>
              </a:defRPr>
            </a:pPr>
            <a:r>
              <a:t>•  Color-coded chain block strip</a:t>
            </a:r>
          </a:p>
        </p:txBody>
      </p:sp>
      <p:pic>
        <p:nvPicPr>
          <p:cNvPr id="4" name="Picture 3" descr="gui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868680"/>
            <a:ext cx="7132320" cy="3346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300" b="0" i="1">
                <a:solidFill>
                  <a:srgbClr val="555555"/>
                </a:solidFill>
              </a:defRPr>
            </a:pPr>
            <a:r>
              <a:t>SUCCEEDED (red) vs BLOCKED (green) outcome cards | 4-line chain growth | miner bar chart | chain viz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GUI: Miner Stats &amp; Event Logs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0" i="0">
                <a:solidFill>
                  <a:srgbClr val="555555"/>
                </a:solidFill>
              </a:defRPr>
            </a:pPr>
            <a:r>
              <a:t>•  Miner table: nodes, hashrate, blocks mined</a:t>
            </a:r>
          </a:p>
          <a:p>
            <a:pPr algn="l">
              <a:spcAft>
                <a:spcPts val="800"/>
              </a:spcAft>
              <a:defRPr sz="1600" b="0" i="0">
                <a:solidFill>
                  <a:srgbClr val="555555"/>
                </a:solidFill>
              </a:defRPr>
            </a:pPr>
            <a:r>
              <a:t>•  Protected chain viz strip</a:t>
            </a:r>
          </a:p>
          <a:p>
            <a:pPr algn="l">
              <a:spcAft>
                <a:spcPts val="800"/>
              </a:spcAft>
              <a:defRPr sz="1600" b="0" i="0">
                <a:solidFill>
                  <a:srgbClr val="555555"/>
                </a:solidFill>
              </a:defRPr>
            </a:pPr>
            <a:r>
              <a:t>•  Full color-coded event logs</a:t>
            </a:r>
          </a:p>
          <a:p>
            <a:pPr algn="l">
              <a:spcAft>
                <a:spcPts val="800"/>
              </a:spcAft>
              <a:defRPr sz="1600" b="0" i="0">
                <a:solidFill>
                  <a:srgbClr val="555555"/>
                </a:solidFill>
              </a:defRPr>
            </a:pPr>
            <a:r>
              <a:t>•  CSV download for both runs</a:t>
            </a:r>
          </a:p>
        </p:txBody>
      </p:sp>
      <p:pic>
        <p:nvPicPr>
          <p:cNvPr id="4" name="Picture 3" descr="gui_st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868680"/>
            <a:ext cx="7132320" cy="31936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300" b="0" i="1">
                <a:solidFill>
                  <a:srgbClr val="555555"/>
                </a:solidFill>
              </a:defRPr>
            </a:pPr>
            <a:r>
              <a:t>Miner table (nodes, hashrate, blocks mined) | Protected chain viz | color-coded event logs + CSV download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400" b="1" i="0">
                <a:solidFill>
                  <a:srgbClr val="1F3A5F"/>
                </a:solidFill>
              </a:defRPr>
            </a:pPr>
            <a:r>
              <a:t>Run the GUI: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200" b="0" i="0">
                <a:solidFill>
                  <a:srgbClr val="555555"/>
                </a:solidFill>
              </a:defRPr>
            </a:pPr>
            <a:r>
              <a:t>    streamlit run app.py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0" i="0">
                <a:solidFill>
                  <a:srgbClr val="1F3A5F"/>
                </a:solidFill>
              </a:defRPr>
            </a:pPr>
            <a:r>
              <a:t>Demonstrate: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1F3A5F"/>
                </a:solidFill>
              </a:defRPr>
            </a:pPr>
            <a:r>
              <a:t>1. Adjust attacker nodes — watch the hashrate readout cross 50%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1F3A5F"/>
                </a:solidFill>
              </a:defRPr>
            </a:pPr>
            <a:r>
              <a:t>2. Run Compare mode — both scenarios execute side by side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1F3A5F"/>
                </a:solidFill>
              </a:defRPr>
            </a:pPr>
            <a:r>
              <a:t>3. Baseline result: attacker SUCCEEDS (chain replaced)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1F3A5F"/>
                </a:solidFill>
              </a:defRPr>
            </a:pPr>
            <a:r>
              <a:t>4. Protected result: LPC + UTXO check BLOCKS the attack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1F3A5F"/>
                </a:solidFill>
              </a:defRPr>
            </a:pPr>
            <a:r>
              <a:t>5. Inspect the chain visualizer and event log details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Result 1: Attack Success Rate</a:t>
            </a:r>
          </a:p>
        </p:txBody>
      </p:sp>
      <p:pic>
        <p:nvPicPr>
          <p:cNvPr id="3" name="Picture 2" descr="chart_attack_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05840"/>
            <a:ext cx="7589520" cy="48789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52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0" i="1">
                <a:solidFill>
                  <a:srgbClr val="27AE60"/>
                </a:solidFill>
              </a:defRPr>
            </a:pPr>
            <a:r>
              <a:t>Baseline 47% success vs Protected 0% — Safe Mode catches every attack at 54.5% hashrate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Result 2: Sweep Across Attacker Hashrates</a:t>
            </a:r>
          </a:p>
        </p:txBody>
      </p:sp>
      <p:pic>
        <p:nvPicPr>
          <p:cNvPr id="3" name="Picture 2" descr="chart_hashrate_vs_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05840"/>
            <a:ext cx="7589520" cy="45537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52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0" i="1">
                <a:solidFill>
                  <a:srgbClr val="27AE60"/>
                </a:solidFill>
              </a:defRPr>
            </a:pPr>
            <a:r>
              <a:t>Even at 70%+ attacker hashrate, the protected line stays at 0%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Result 3: Single-Run Chain Growth</a:t>
            </a:r>
          </a:p>
        </p:txBody>
      </p:sp>
      <p:pic>
        <p:nvPicPr>
          <p:cNvPr id="3" name="Picture 2" descr="chart_chain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05840"/>
            <a:ext cx="7589520" cy="45537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52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0" i="1">
                <a:solidFill>
                  <a:srgbClr val="555555"/>
                </a:solidFill>
              </a:defRPr>
            </a:pPr>
            <a:r>
              <a:t>Honest vs attacker private chain over time — until the fork point only the public chain grows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0" i="0">
                <a:solidFill>
                  <a:srgbClr val="555555"/>
                </a:solidFill>
              </a:defRPr>
            </a:pPr>
            <a:r>
              <a:t>•  Mining is modeled probabilistically (weighted random selection), not real hash competition — standard for academic simulators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555555"/>
                </a:solidFill>
              </a:defRPr>
            </a:pPr>
            <a:r>
              <a:t>•  No network latency or partition modeling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555555"/>
                </a:solidFill>
              </a:defRPr>
            </a:pPr>
            <a:r>
              <a:t>•  Only the secret-fork-and-publish attack pattern is implemented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555555"/>
                </a:solidFill>
              </a:defRPr>
            </a:pPr>
            <a:r>
              <a:t>•  Difficulty is fixed; real Bitcoin adjusts it every 2016 blocks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555555"/>
                </a:solidFill>
              </a:defRPr>
            </a:pPr>
            <a:r>
              <a:t>•  These are deliberate scope limits, documented in the report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0" i="0">
                <a:solidFill>
                  <a:srgbClr val="555555"/>
                </a:solidFill>
              </a:defRPr>
            </a:pPr>
            <a:r>
              <a:t>•  Add network latency and partition modeling for realism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555555"/>
                </a:solidFill>
              </a:defRPr>
            </a:pPr>
            <a:r>
              <a:t>•  Implement and compare other defenses (checkpointing, finality gadgets)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555555"/>
                </a:solidFill>
              </a:defRPr>
            </a:pPr>
            <a:r>
              <a:t>•  Add other attack patterns: selfish mining, eclipse attacks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555555"/>
                </a:solidFill>
              </a:defRPr>
            </a:pPr>
            <a:r>
              <a:t>•  Scale up to many more miners and longer chains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555555"/>
                </a:solidFill>
              </a:defRPr>
            </a:pPr>
            <a:r>
              <a:t>•  Wrap the engine into a reusable Python package others can extend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0" i="0">
                <a:solidFill>
                  <a:srgbClr val="1F3A5F"/>
                </a:solidFill>
              </a:defRPr>
            </a:pPr>
            <a:r>
              <a:t>•  Built a working Python simulation of a Proof-of-Work blockchain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1F3A5F"/>
                </a:solidFill>
              </a:defRPr>
            </a:pPr>
            <a:r>
              <a:t>•  Implemented a malicious miner that carries out 51% attacks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1F3A5F"/>
                </a:solidFill>
              </a:defRPr>
            </a:pPr>
            <a:r>
              <a:t>•  Implemented Safe Mode Detection: LPC + UTXO comparison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1F3A5F"/>
                </a:solidFill>
              </a:defRPr>
            </a:pPr>
            <a:r>
              <a:t>•  Hashrate is derived dynamically from node counts, as the supervisor required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1F3A5F"/>
                </a:solidFill>
              </a:defRPr>
            </a:pPr>
            <a:r>
              <a:t>•  Streamlit GUI lets anyone run experiments and watch the attack live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1F3A5F"/>
                </a:solidFill>
              </a:defRPr>
            </a:pPr>
            <a:r>
              <a:t>•  Results: 47% baseline attack success dropped to 0% with the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852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500" b="0" i="1">
                <a:solidFill>
                  <a:srgbClr val="555555"/>
                </a:solidFill>
              </a:defRPr>
            </a:pPr>
            <a:r>
              <a:t>The defense works under the conditions tested. Limitations and future work are documented in the report.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7200" b="1" i="0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400" b="0" i="0">
                <a:solidFill>
                  <a:srgbClr val="ECF0F1"/>
                </a:solidFill>
              </a:defRPr>
            </a:pPr>
            <a:r>
              <a:t>Questions and feedback welcome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0" i="0">
                <a:solidFill>
                  <a:srgbClr val="BDC3C7"/>
                </a:solidFill>
              </a:defRPr>
            </a:pPr>
            <a:r>
              <a:t>Ahmad Ali  •  BC220425973  •  F25PROJECT5043F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